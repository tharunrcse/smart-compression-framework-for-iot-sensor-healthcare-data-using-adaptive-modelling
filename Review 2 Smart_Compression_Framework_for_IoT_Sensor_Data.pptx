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4660"/>
  </p:normalViewPr>
  <p:slideViewPr>
    <p:cSldViewPr snapToGrid="0">
      <p:cViewPr varScale="1">
        <p:scale>
          <a:sx n="90" d="100"/>
          <a:sy n="90" d="100"/>
        </p:scale>
        <p:origin x="40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A2A63-3DAE-410F-9A09-50AEE7E24986}" type="datetimeFigureOut">
              <a:rPr lang="en-IN" smtClean="0"/>
              <a:t>14-11-2025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6765E4-37D6-44BA-B47C-E5320AE3AFBE}" type="slidenum">
              <a:rPr lang="en-IN" smtClean="0"/>
              <a:t>‹#›</a:t>
            </a:fld>
            <a:endParaRPr lang="en-IN"/>
          </a:p>
        </p:txBody>
      </p:sp>
    </p:spTree>
    <p:extLst>
      <p:ext uri="{BB962C8B-B14F-4D97-AF65-F5344CB8AC3E}">
        <p14:creationId xmlns:p14="http://schemas.microsoft.com/office/powerpoint/2010/main" val="3021787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11/14/2025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6FD78-B25C-7080-E3BC-1E030D64790B}"/>
              </a:ext>
            </a:extLst>
          </p:cNvPr>
          <p:cNvSpPr>
            <a:spLocks noGrp="1"/>
          </p:cNvSpPr>
          <p:nvPr>
            <p:ph type="ctrTitle"/>
          </p:nvPr>
        </p:nvSpPr>
        <p:spPr/>
        <p:txBody>
          <a:bodyPr/>
          <a:lstStyle/>
          <a:p>
            <a:r>
              <a:rPr lang="en-US" sz="3200" b="1" dirty="0"/>
              <a:t>Smart Compression Framework for IoT Sensor Healthcare Data using Adaptive Modelling</a:t>
            </a:r>
            <a:endParaRPr lang="en-IN" sz="3200" b="1" dirty="0"/>
          </a:p>
        </p:txBody>
      </p:sp>
      <p:sp>
        <p:nvSpPr>
          <p:cNvPr id="3" name="Subtitle 2">
            <a:extLst>
              <a:ext uri="{FF2B5EF4-FFF2-40B4-BE49-F238E27FC236}">
                <a16:creationId xmlns:a16="http://schemas.microsoft.com/office/drawing/2014/main" id="{5FD081AC-9CF3-9060-EBBB-C732108DF327}"/>
              </a:ext>
            </a:extLst>
          </p:cNvPr>
          <p:cNvSpPr>
            <a:spLocks noGrp="1"/>
          </p:cNvSpPr>
          <p:nvPr>
            <p:ph type="subTitle" idx="1"/>
          </p:nvPr>
        </p:nvSpPr>
        <p:spPr/>
        <p:txBody>
          <a:bodyPr>
            <a:normAutofit/>
          </a:bodyPr>
          <a:lstStyle/>
          <a:p>
            <a:r>
              <a:rPr lang="en-IN" sz="2000" b="1" dirty="0"/>
              <a:t>ADVANCED DATA COMPRESSION TECHNIQUES</a:t>
            </a:r>
          </a:p>
        </p:txBody>
      </p:sp>
    </p:spTree>
    <p:extLst>
      <p:ext uri="{BB962C8B-B14F-4D97-AF65-F5344CB8AC3E}">
        <p14:creationId xmlns:p14="http://schemas.microsoft.com/office/powerpoint/2010/main" val="950661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39963-A062-53D9-62E7-34FD632414CA}"/>
              </a:ext>
            </a:extLst>
          </p:cNvPr>
          <p:cNvSpPr>
            <a:spLocks noGrp="1"/>
          </p:cNvSpPr>
          <p:nvPr>
            <p:ph type="title"/>
          </p:nvPr>
        </p:nvSpPr>
        <p:spPr/>
        <p:txBody>
          <a:bodyPr/>
          <a:lstStyle/>
          <a:p>
            <a:r>
              <a:rPr lang="en-IN" dirty="0"/>
              <a:t>TEAM MEMBERS</a:t>
            </a:r>
          </a:p>
        </p:txBody>
      </p:sp>
      <p:sp>
        <p:nvSpPr>
          <p:cNvPr id="3" name="Content Placeholder 2">
            <a:extLst>
              <a:ext uri="{FF2B5EF4-FFF2-40B4-BE49-F238E27FC236}">
                <a16:creationId xmlns:a16="http://schemas.microsoft.com/office/drawing/2014/main" id="{02592ECA-E7F0-FE9A-BA2F-AB0865114BE5}"/>
              </a:ext>
            </a:extLst>
          </p:cNvPr>
          <p:cNvSpPr>
            <a:spLocks noGrp="1"/>
          </p:cNvSpPr>
          <p:nvPr>
            <p:ph idx="1"/>
          </p:nvPr>
        </p:nvSpPr>
        <p:spPr/>
        <p:txBody>
          <a:bodyPr/>
          <a:lstStyle/>
          <a:p>
            <a:r>
              <a:rPr lang="en-IN" dirty="0"/>
              <a:t>ANIRUDHAN R (22MIC0067)</a:t>
            </a:r>
          </a:p>
          <a:p>
            <a:r>
              <a:rPr lang="en-IN" dirty="0"/>
              <a:t>RAVISHANKAR G (22MIC0034)</a:t>
            </a:r>
          </a:p>
          <a:p>
            <a:r>
              <a:rPr lang="en-IN" dirty="0"/>
              <a:t>THARUN R (22MIC0061)</a:t>
            </a:r>
          </a:p>
          <a:p>
            <a:r>
              <a:rPr lang="en-IN"/>
              <a:t>I MOHAMED ISRAAR </a:t>
            </a:r>
            <a:r>
              <a:rPr lang="en-IN" dirty="0"/>
              <a:t>(22MID0101)</a:t>
            </a:r>
          </a:p>
        </p:txBody>
      </p:sp>
    </p:spTree>
    <p:extLst>
      <p:ext uri="{BB962C8B-B14F-4D97-AF65-F5344CB8AC3E}">
        <p14:creationId xmlns:p14="http://schemas.microsoft.com/office/powerpoint/2010/main" val="1243013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E19EE-05DC-22DD-7735-EF26112C0F4F}"/>
              </a:ext>
            </a:extLst>
          </p:cNvPr>
          <p:cNvSpPr>
            <a:spLocks noGrp="1"/>
          </p:cNvSpPr>
          <p:nvPr>
            <p:ph type="title"/>
          </p:nvPr>
        </p:nvSpPr>
        <p:spPr>
          <a:xfrm>
            <a:off x="1295402" y="982132"/>
            <a:ext cx="9601196" cy="660401"/>
          </a:xfrm>
        </p:spPr>
        <p:txBody>
          <a:bodyPr>
            <a:normAutofit fontScale="90000"/>
          </a:bodyPr>
          <a:lstStyle/>
          <a:p>
            <a:r>
              <a:rPr lang="en-IN" dirty="0"/>
              <a:t>INTRODUCTION</a:t>
            </a:r>
          </a:p>
        </p:txBody>
      </p:sp>
      <p:sp>
        <p:nvSpPr>
          <p:cNvPr id="3" name="Content Placeholder 2">
            <a:extLst>
              <a:ext uri="{FF2B5EF4-FFF2-40B4-BE49-F238E27FC236}">
                <a16:creationId xmlns:a16="http://schemas.microsoft.com/office/drawing/2014/main" id="{AB06D3E2-3B55-7AEA-3ED6-9CF92DD3C681}"/>
              </a:ext>
            </a:extLst>
          </p:cNvPr>
          <p:cNvSpPr>
            <a:spLocks noGrp="1"/>
          </p:cNvSpPr>
          <p:nvPr>
            <p:ph idx="1"/>
          </p:nvPr>
        </p:nvSpPr>
        <p:spPr>
          <a:xfrm>
            <a:off x="1295401" y="1710267"/>
            <a:ext cx="9601196" cy="4165601"/>
          </a:xfrm>
        </p:spPr>
        <p:txBody>
          <a:bodyPr>
            <a:normAutofit fontScale="92500"/>
          </a:bodyPr>
          <a:lstStyle/>
          <a:p>
            <a:r>
              <a:rPr lang="en-US" dirty="0"/>
              <a:t>The Internet of Things (IoT) generates a massive amount of real-time data from sensors such as temperature monitors, heart rate trackers, and oxygen level detectors. Healthcare applications require fast, secure, and efficient data transmission. However, IoT networks face challenges like limited bandwidth, congestion, latency, and high energy consumption. Data compression at the IoT layer before transmission to fog/cloud servers can significantly reduce these issues.</a:t>
            </a:r>
          </a:p>
          <a:p>
            <a:r>
              <a:rPr lang="en-US" dirty="0"/>
              <a:t>This project is based on the research paper </a:t>
            </a:r>
            <a:r>
              <a:rPr lang="en-US" b="1" dirty="0"/>
              <a:t>“Design an Efficient Internet of Things Data Compression for Healthcare Applications” (Bulletin of Electrical Engineering and Informatics, 2022)</a:t>
            </a:r>
            <a:r>
              <a:rPr lang="en-US" dirty="0"/>
              <a:t>, which proposes a compression-based IoT–fog computing system using the </a:t>
            </a:r>
            <a:r>
              <a:rPr lang="en-US" b="1" dirty="0" err="1"/>
              <a:t>Zstandard</a:t>
            </a:r>
            <a:r>
              <a:rPr lang="en-US" b="1" dirty="0"/>
              <a:t> algorithm</a:t>
            </a:r>
            <a:r>
              <a:rPr lang="en-US" dirty="0"/>
              <a:t>.</a:t>
            </a:r>
          </a:p>
          <a:p>
            <a:endParaRPr lang="en-IN" dirty="0"/>
          </a:p>
        </p:txBody>
      </p:sp>
    </p:spTree>
    <p:extLst>
      <p:ext uri="{BB962C8B-B14F-4D97-AF65-F5344CB8AC3E}">
        <p14:creationId xmlns:p14="http://schemas.microsoft.com/office/powerpoint/2010/main" val="248280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72B0-0483-E855-4FD0-E00EA2AFABB9}"/>
              </a:ext>
            </a:extLst>
          </p:cNvPr>
          <p:cNvSpPr>
            <a:spLocks noGrp="1"/>
          </p:cNvSpPr>
          <p:nvPr>
            <p:ph type="title"/>
          </p:nvPr>
        </p:nvSpPr>
        <p:spPr/>
        <p:txBody>
          <a:bodyPr/>
          <a:lstStyle/>
          <a:p>
            <a:r>
              <a:rPr lang="en-IN" dirty="0"/>
              <a:t>EXISTING METHODOLOGY</a:t>
            </a:r>
          </a:p>
        </p:txBody>
      </p:sp>
      <p:sp>
        <p:nvSpPr>
          <p:cNvPr id="7" name="Rectangle 4">
            <a:extLst>
              <a:ext uri="{FF2B5EF4-FFF2-40B4-BE49-F238E27FC236}">
                <a16:creationId xmlns:a16="http://schemas.microsoft.com/office/drawing/2014/main" id="{99207F4C-A5D9-2CD2-6D91-5292E2475214}"/>
              </a:ext>
            </a:extLst>
          </p:cNvPr>
          <p:cNvSpPr>
            <a:spLocks noGrp="1" noChangeArrowheads="1"/>
          </p:cNvSpPr>
          <p:nvPr>
            <p:ph idx="1"/>
          </p:nvPr>
        </p:nvSpPr>
        <p:spPr bwMode="auto">
          <a:xfrm>
            <a:off x="1295401" y="2969905"/>
            <a:ext cx="9284109"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lvl="2" indent="0" defTabSz="914400" eaLnBrk="0" fontAlgn="base" hangingPunct="0">
              <a:spcBef>
                <a:spcPct val="0"/>
              </a:spcBef>
              <a:spcAft>
                <a:spcPct val="0"/>
              </a:spcAft>
              <a:buClrTx/>
              <a:buSzTx/>
              <a:buNone/>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IOT CHALLENGES</a:t>
            </a:r>
          </a:p>
          <a:p>
            <a:pPr marL="914400" lvl="2" indent="0" defTabSz="914400" eaLnBrk="0" fontAlgn="base" hangingPunct="0">
              <a:spcBef>
                <a:spcPct val="0"/>
              </a:spcBef>
              <a:spcAft>
                <a:spcPct val="0"/>
              </a:spcAft>
              <a:buClrTx/>
              <a:buSzTx/>
              <a:buFontTx/>
              <a:buChar char="•"/>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1" indent="0" defTabSz="914400" eaLnBrk="0" fontAlgn="base" hangingPunct="0">
              <a:spcBef>
                <a:spcPct val="0"/>
              </a:spcBef>
              <a:spcAft>
                <a:spcPct val="0"/>
              </a:spcAft>
              <a:buClrTx/>
              <a:buSzTx/>
              <a:buFontTx/>
              <a:buChar char="•"/>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sensors generate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 volumes of data</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continuously.</a:t>
            </a:r>
          </a:p>
          <a:p>
            <a:pPr marL="457200" lvl="1" indent="0" defTabSz="914400" eaLnBrk="0" fontAlgn="base" hangingPunct="0">
              <a:spcBef>
                <a:spcPct val="0"/>
              </a:spcBef>
              <a:spcAft>
                <a:spcPct val="0"/>
              </a:spcAft>
              <a:buClrTx/>
              <a:buSzTx/>
              <a:buFontTx/>
              <a:buChar char="•"/>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Bandwidth limitations cause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congestion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lvl="1" indent="0" defTabSz="914400" eaLnBrk="0" fontAlgn="base" hangingPunct="0">
              <a:spcBef>
                <a:spcPct val="0"/>
              </a:spcBef>
              <a:spcAft>
                <a:spcPct val="0"/>
              </a:spcAft>
              <a:buClrTx/>
              <a:buSzTx/>
              <a:buFontTx/>
              <a:buChar char="•"/>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Latency</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transmission impacts patient monitoring.</a:t>
            </a:r>
          </a:p>
          <a:p>
            <a:pPr marL="457200" lvl="1" indent="0" defTabSz="914400" eaLnBrk="0" fontAlgn="base" hangingPunct="0">
              <a:spcBef>
                <a:spcPct val="0"/>
              </a:spcBef>
              <a:spcAft>
                <a:spcPct val="0"/>
              </a:spcAft>
              <a:buClrTx/>
              <a:buSzTx/>
              <a:buFontTx/>
              <a:buChar char="•"/>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Cloud-only processing creates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increases costs.</a:t>
            </a:r>
          </a:p>
        </p:txBody>
      </p:sp>
    </p:spTree>
    <p:extLst>
      <p:ext uri="{BB962C8B-B14F-4D97-AF65-F5344CB8AC3E}">
        <p14:creationId xmlns:p14="http://schemas.microsoft.com/office/powerpoint/2010/main" val="2729332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5951-4679-EE3A-8A95-CA2400F18018}"/>
              </a:ext>
            </a:extLst>
          </p:cNvPr>
          <p:cNvSpPr>
            <a:spLocks noGrp="1"/>
          </p:cNvSpPr>
          <p:nvPr>
            <p:ph type="title"/>
          </p:nvPr>
        </p:nvSpPr>
        <p:spPr/>
        <p:txBody>
          <a:bodyPr>
            <a:normAutofit fontScale="90000"/>
          </a:bodyPr>
          <a:lstStyle/>
          <a:p>
            <a:r>
              <a:rPr lang="en-IN" dirty="0"/>
              <a:t>EXISTING COMPRESSION TECHNIQUES</a:t>
            </a:r>
          </a:p>
        </p:txBody>
      </p:sp>
      <p:sp>
        <p:nvSpPr>
          <p:cNvPr id="4" name="Rectangle 1">
            <a:extLst>
              <a:ext uri="{FF2B5EF4-FFF2-40B4-BE49-F238E27FC236}">
                <a16:creationId xmlns:a16="http://schemas.microsoft.com/office/drawing/2014/main" id="{178B4EFF-93A6-9B14-3A32-5D169F023361}"/>
              </a:ext>
            </a:extLst>
          </p:cNvPr>
          <p:cNvSpPr>
            <a:spLocks noGrp="1" noChangeArrowheads="1"/>
          </p:cNvSpPr>
          <p:nvPr>
            <p:ph idx="1"/>
          </p:nvPr>
        </p:nvSpPr>
        <p:spPr bwMode="auto">
          <a:xfrm>
            <a:off x="1295401" y="2939129"/>
            <a:ext cx="957826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Huffman + LZW (Hybrid Compression)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Achieved ~64% compression ratio.</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Clustering + Huffman Encoding (EEG Data)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Reduced transmission size by grouping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similar signals.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SAX + LZW (CBDR Method)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Two-phase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lossy+lossless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approach with &gt;95% ratio.</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GROWN (WBAN Compression)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Reduced redundancy in wearable sensor data.</a:t>
            </a:r>
          </a:p>
        </p:txBody>
      </p:sp>
    </p:spTree>
    <p:extLst>
      <p:ext uri="{BB962C8B-B14F-4D97-AF65-F5344CB8AC3E}">
        <p14:creationId xmlns:p14="http://schemas.microsoft.com/office/powerpoint/2010/main" val="139673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70222-17F3-0D7F-CAEE-518963F27119}"/>
              </a:ext>
            </a:extLst>
          </p:cNvPr>
          <p:cNvSpPr>
            <a:spLocks noGrp="1"/>
          </p:cNvSpPr>
          <p:nvPr>
            <p:ph type="title"/>
          </p:nvPr>
        </p:nvSpPr>
        <p:spPr/>
        <p:txBody>
          <a:bodyPr>
            <a:normAutofit fontScale="90000"/>
          </a:bodyPr>
          <a:lstStyle/>
          <a:p>
            <a:r>
              <a:rPr lang="en-IN" dirty="0"/>
              <a:t>WHY PROPOSED METHODOLOGY WORKS BETTER</a:t>
            </a:r>
          </a:p>
        </p:txBody>
      </p:sp>
      <p:sp>
        <p:nvSpPr>
          <p:cNvPr id="3" name="Content Placeholder 2">
            <a:extLst>
              <a:ext uri="{FF2B5EF4-FFF2-40B4-BE49-F238E27FC236}">
                <a16:creationId xmlns:a16="http://schemas.microsoft.com/office/drawing/2014/main" id="{876E40AF-FFC0-A094-D103-B749BF20493E}"/>
              </a:ext>
            </a:extLst>
          </p:cNvPr>
          <p:cNvSpPr>
            <a:spLocks noGrp="1"/>
          </p:cNvSpPr>
          <p:nvPr>
            <p:ph idx="1"/>
          </p:nvPr>
        </p:nvSpPr>
        <p:spPr/>
        <p:txBody>
          <a:bodyPr/>
          <a:lstStyle/>
          <a:p>
            <a:r>
              <a:rPr lang="en-US" dirty="0"/>
              <a:t>These methods improved compression but often required </a:t>
            </a:r>
            <a:r>
              <a:rPr lang="en-US" b="1" dirty="0"/>
              <a:t>high computation</a:t>
            </a:r>
            <a:r>
              <a:rPr lang="en-US" dirty="0"/>
              <a:t>, </a:t>
            </a:r>
            <a:r>
              <a:rPr lang="en-US" b="1" dirty="0"/>
              <a:t>large memory</a:t>
            </a:r>
            <a:r>
              <a:rPr lang="en-US" dirty="0"/>
              <a:t>, or </a:t>
            </a:r>
            <a:r>
              <a:rPr lang="en-US" b="1" dirty="0"/>
              <a:t>longer execution time</a:t>
            </a:r>
            <a:r>
              <a:rPr lang="en-US" dirty="0"/>
              <a:t>, making them less suitable for IoT devices with limited resources.</a:t>
            </a:r>
            <a:endParaRPr lang="en-IN" dirty="0"/>
          </a:p>
        </p:txBody>
      </p:sp>
    </p:spTree>
    <p:extLst>
      <p:ext uri="{BB962C8B-B14F-4D97-AF65-F5344CB8AC3E}">
        <p14:creationId xmlns:p14="http://schemas.microsoft.com/office/powerpoint/2010/main" val="384524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EE863-A75C-DD53-D07F-F66507FDD182}"/>
              </a:ext>
            </a:extLst>
          </p:cNvPr>
          <p:cNvSpPr>
            <a:spLocks noGrp="1"/>
          </p:cNvSpPr>
          <p:nvPr>
            <p:ph type="title"/>
          </p:nvPr>
        </p:nvSpPr>
        <p:spPr>
          <a:xfrm>
            <a:off x="1295402" y="982133"/>
            <a:ext cx="9601196" cy="699184"/>
          </a:xfrm>
        </p:spPr>
        <p:txBody>
          <a:bodyPr>
            <a:normAutofit fontScale="90000"/>
          </a:bodyPr>
          <a:lstStyle/>
          <a:p>
            <a:r>
              <a:rPr lang="en-IN" dirty="0"/>
              <a:t>PROPOSED METHODOLOGY</a:t>
            </a:r>
          </a:p>
        </p:txBody>
      </p:sp>
      <p:sp>
        <p:nvSpPr>
          <p:cNvPr id="3" name="Content Placeholder 2">
            <a:extLst>
              <a:ext uri="{FF2B5EF4-FFF2-40B4-BE49-F238E27FC236}">
                <a16:creationId xmlns:a16="http://schemas.microsoft.com/office/drawing/2014/main" id="{B4A70675-98E4-9952-83F3-348255ECE1D7}"/>
              </a:ext>
            </a:extLst>
          </p:cNvPr>
          <p:cNvSpPr>
            <a:spLocks noGrp="1"/>
          </p:cNvSpPr>
          <p:nvPr>
            <p:ph idx="1"/>
          </p:nvPr>
        </p:nvSpPr>
        <p:spPr>
          <a:xfrm>
            <a:off x="1295401" y="1858297"/>
            <a:ext cx="9854380" cy="4139380"/>
          </a:xfrm>
        </p:spPr>
        <p:txBody>
          <a:bodyPr>
            <a:normAutofit fontScale="62500" lnSpcReduction="20000"/>
          </a:bodyPr>
          <a:lstStyle/>
          <a:p>
            <a:r>
              <a:rPr lang="en-US" dirty="0"/>
              <a:t>The proposed approach uses the </a:t>
            </a:r>
            <a:r>
              <a:rPr lang="en-US" b="1" dirty="0" err="1"/>
              <a:t>Zstandard</a:t>
            </a:r>
            <a:r>
              <a:rPr lang="en-US" b="1" dirty="0"/>
              <a:t> (</a:t>
            </a:r>
            <a:r>
              <a:rPr lang="en-US" b="1" dirty="0" err="1"/>
              <a:t>Zstd</a:t>
            </a:r>
            <a:r>
              <a:rPr lang="en-US" b="1" dirty="0"/>
              <a:t>) algorithm</a:t>
            </a:r>
            <a:r>
              <a:rPr lang="en-US" dirty="0"/>
              <a:t> for real-time lossless data compression in IoT healthcare.</a:t>
            </a:r>
          </a:p>
          <a:p>
            <a:r>
              <a:rPr lang="en-IN" b="1" dirty="0"/>
              <a:t>System Flow</a:t>
            </a:r>
          </a:p>
          <a:p>
            <a:r>
              <a:rPr lang="en-IN" b="1" dirty="0"/>
              <a:t>IoT Layer (Raspberry Pi)</a:t>
            </a:r>
            <a:endParaRPr lang="en-IN" dirty="0"/>
          </a:p>
          <a:p>
            <a:pPr lvl="1"/>
            <a:r>
              <a:rPr lang="en-IN" dirty="0"/>
              <a:t>Sensors:</a:t>
            </a:r>
          </a:p>
          <a:p>
            <a:pPr lvl="2"/>
            <a:r>
              <a:rPr lang="en-IN" b="1" dirty="0"/>
              <a:t>DS18B20</a:t>
            </a:r>
            <a:r>
              <a:rPr lang="en-IN" dirty="0"/>
              <a:t> – Temperature</a:t>
            </a:r>
          </a:p>
          <a:p>
            <a:pPr lvl="2"/>
            <a:r>
              <a:rPr lang="en-IN" b="1" dirty="0"/>
              <a:t>MAX30100</a:t>
            </a:r>
            <a:r>
              <a:rPr lang="en-IN" dirty="0"/>
              <a:t> – Oxygen &amp; Heart Rate</a:t>
            </a:r>
          </a:p>
          <a:p>
            <a:pPr lvl="1"/>
            <a:r>
              <a:rPr lang="en-IN" dirty="0"/>
              <a:t>Collect raw sensor data.</a:t>
            </a:r>
          </a:p>
          <a:p>
            <a:pPr lvl="1"/>
            <a:r>
              <a:rPr lang="en-IN" dirty="0"/>
              <a:t>Compress data using the </a:t>
            </a:r>
            <a:r>
              <a:rPr lang="en-IN" b="1" dirty="0" err="1"/>
              <a:t>Zstandard</a:t>
            </a:r>
            <a:r>
              <a:rPr lang="en-IN" b="1" dirty="0"/>
              <a:t> algorithm</a:t>
            </a:r>
            <a:r>
              <a:rPr lang="en-IN" dirty="0"/>
              <a:t>.</a:t>
            </a:r>
          </a:p>
          <a:p>
            <a:pPr lvl="1"/>
            <a:r>
              <a:rPr lang="en-IN" dirty="0"/>
              <a:t>Send compressed data via wireless socket to Fog node.</a:t>
            </a:r>
          </a:p>
          <a:p>
            <a:r>
              <a:rPr lang="en-IN" b="1" dirty="0"/>
              <a:t>Fog Layer (Server / PC)</a:t>
            </a:r>
            <a:endParaRPr lang="en-IN" dirty="0"/>
          </a:p>
          <a:p>
            <a:pPr lvl="1"/>
            <a:r>
              <a:rPr lang="en-IN" dirty="0"/>
              <a:t>Receive compressed data.</a:t>
            </a:r>
          </a:p>
          <a:p>
            <a:pPr lvl="1"/>
            <a:r>
              <a:rPr lang="en-IN" dirty="0"/>
              <a:t>Decompress using </a:t>
            </a:r>
            <a:r>
              <a:rPr lang="en-IN" dirty="0" err="1"/>
              <a:t>Zstandard</a:t>
            </a:r>
            <a:r>
              <a:rPr lang="en-IN" dirty="0"/>
              <a:t>.</a:t>
            </a:r>
          </a:p>
          <a:p>
            <a:pPr lvl="1"/>
            <a:r>
              <a:rPr lang="en-IN" dirty="0"/>
              <a:t>Store and </a:t>
            </a:r>
            <a:r>
              <a:rPr lang="en-IN" dirty="0" err="1"/>
              <a:t>analyze</a:t>
            </a:r>
            <a:r>
              <a:rPr lang="en-IN" dirty="0"/>
              <a:t> results.</a:t>
            </a:r>
          </a:p>
          <a:p>
            <a:pPr lvl="1"/>
            <a:r>
              <a:rPr lang="en-IN" dirty="0"/>
              <a:t>Evaluate system performance (compression ratio, throughput, latency).</a:t>
            </a:r>
          </a:p>
          <a:p>
            <a:endParaRPr lang="en-IN" dirty="0"/>
          </a:p>
        </p:txBody>
      </p:sp>
    </p:spTree>
    <p:extLst>
      <p:ext uri="{BB962C8B-B14F-4D97-AF65-F5344CB8AC3E}">
        <p14:creationId xmlns:p14="http://schemas.microsoft.com/office/powerpoint/2010/main" val="2401205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12C0B-C8E8-A118-C494-3C7A24A73904}"/>
              </a:ext>
            </a:extLst>
          </p:cNvPr>
          <p:cNvSpPr>
            <a:spLocks noGrp="1"/>
          </p:cNvSpPr>
          <p:nvPr>
            <p:ph type="title"/>
          </p:nvPr>
        </p:nvSpPr>
        <p:spPr/>
        <p:txBody>
          <a:bodyPr/>
          <a:lstStyle/>
          <a:p>
            <a:r>
              <a:rPr lang="en-IN" dirty="0"/>
              <a:t>ALGORITHMS</a:t>
            </a:r>
          </a:p>
        </p:txBody>
      </p:sp>
      <p:sp>
        <p:nvSpPr>
          <p:cNvPr id="3" name="Content Placeholder 2">
            <a:extLst>
              <a:ext uri="{FF2B5EF4-FFF2-40B4-BE49-F238E27FC236}">
                <a16:creationId xmlns:a16="http://schemas.microsoft.com/office/drawing/2014/main" id="{35D0B4B9-316C-B968-3DEE-4C068C302393}"/>
              </a:ext>
            </a:extLst>
          </p:cNvPr>
          <p:cNvSpPr>
            <a:spLocks noGrp="1"/>
          </p:cNvSpPr>
          <p:nvPr>
            <p:ph idx="1"/>
          </p:nvPr>
        </p:nvSpPr>
        <p:spPr/>
        <p:txBody>
          <a:bodyPr/>
          <a:lstStyle/>
          <a:p>
            <a:r>
              <a:rPr lang="en-US" b="1" dirty="0"/>
              <a:t>4.1 Compression (</a:t>
            </a:r>
            <a:r>
              <a:rPr lang="en-US" b="1" dirty="0" err="1"/>
              <a:t>Zstandard</a:t>
            </a:r>
            <a:r>
              <a:rPr lang="en-US" b="1" dirty="0"/>
              <a:t> Algorithm – Lossless)</a:t>
            </a:r>
          </a:p>
          <a:p>
            <a:r>
              <a:rPr lang="en-US" dirty="0"/>
              <a:t>Reads input data streams.</a:t>
            </a:r>
          </a:p>
          <a:p>
            <a:r>
              <a:rPr lang="en-US" dirty="0"/>
              <a:t>Identifies repeated patterns.</a:t>
            </a:r>
          </a:p>
          <a:p>
            <a:r>
              <a:rPr lang="en-US" dirty="0"/>
              <a:t>Builds dictionary-based encoding.</a:t>
            </a:r>
          </a:p>
          <a:p>
            <a:r>
              <a:rPr lang="en-US" dirty="0"/>
              <a:t>Outputs compressed binary sequence.</a:t>
            </a:r>
          </a:p>
          <a:p>
            <a:endParaRPr lang="en-IN" dirty="0"/>
          </a:p>
        </p:txBody>
      </p:sp>
    </p:spTree>
    <p:extLst>
      <p:ext uri="{BB962C8B-B14F-4D97-AF65-F5344CB8AC3E}">
        <p14:creationId xmlns:p14="http://schemas.microsoft.com/office/powerpoint/2010/main" val="2008296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D11E-99CA-18C5-D5C6-3196545E9843}"/>
              </a:ext>
            </a:extLst>
          </p:cNvPr>
          <p:cNvSpPr>
            <a:spLocks noGrp="1"/>
          </p:cNvSpPr>
          <p:nvPr>
            <p:ph type="title"/>
          </p:nvPr>
        </p:nvSpPr>
        <p:spPr/>
        <p:txBody>
          <a:bodyPr/>
          <a:lstStyle/>
          <a:p>
            <a:r>
              <a:rPr lang="en-IN" dirty="0"/>
              <a:t>PSEUDOCODE</a:t>
            </a:r>
          </a:p>
        </p:txBody>
      </p:sp>
      <p:pic>
        <p:nvPicPr>
          <p:cNvPr id="11" name="Content Placeholder 10">
            <a:extLst>
              <a:ext uri="{FF2B5EF4-FFF2-40B4-BE49-F238E27FC236}">
                <a16:creationId xmlns:a16="http://schemas.microsoft.com/office/drawing/2014/main" id="{28567393-3219-1F5F-ABAE-44D3B117DAEF}"/>
              </a:ext>
            </a:extLst>
          </p:cNvPr>
          <p:cNvPicPr>
            <a:picLocks noGrp="1" noChangeAspect="1"/>
          </p:cNvPicPr>
          <p:nvPr>
            <p:ph sz="half" idx="1"/>
          </p:nvPr>
        </p:nvPicPr>
        <p:blipFill>
          <a:blip r:embed="rId2"/>
          <a:stretch>
            <a:fillRect/>
          </a:stretch>
        </p:blipFill>
        <p:spPr>
          <a:xfrm>
            <a:off x="1876176" y="2805709"/>
            <a:ext cx="3562847" cy="2819794"/>
          </a:xfrm>
          <a:prstGeom prst="rect">
            <a:avLst/>
          </a:prstGeom>
        </p:spPr>
      </p:pic>
      <p:sp>
        <p:nvSpPr>
          <p:cNvPr id="8" name="TextBox 7">
            <a:extLst>
              <a:ext uri="{FF2B5EF4-FFF2-40B4-BE49-F238E27FC236}">
                <a16:creationId xmlns:a16="http://schemas.microsoft.com/office/drawing/2014/main" id="{1DBF2A91-8691-4FD5-5D10-3900EB171358}"/>
              </a:ext>
            </a:extLst>
          </p:cNvPr>
          <p:cNvSpPr txBox="1"/>
          <p:nvPr/>
        </p:nvSpPr>
        <p:spPr>
          <a:xfrm>
            <a:off x="1907459" y="2706018"/>
            <a:ext cx="6115664" cy="369332"/>
          </a:xfrm>
          <a:prstGeom prst="rect">
            <a:avLst/>
          </a:prstGeom>
          <a:noFill/>
        </p:spPr>
        <p:txBody>
          <a:bodyPr wrap="square">
            <a:spAutoFit/>
          </a:bodyPr>
          <a:lstStyle/>
          <a:p>
            <a:r>
              <a:rPr lang="en-US" b="1" dirty="0"/>
              <a:t> </a:t>
            </a:r>
            <a:endParaRPr lang="en-US" dirty="0"/>
          </a:p>
        </p:txBody>
      </p:sp>
      <p:pic>
        <p:nvPicPr>
          <p:cNvPr id="19" name="Content Placeholder 18">
            <a:extLst>
              <a:ext uri="{FF2B5EF4-FFF2-40B4-BE49-F238E27FC236}">
                <a16:creationId xmlns:a16="http://schemas.microsoft.com/office/drawing/2014/main" id="{F168BC35-BBFE-6675-4433-677940F86A59}"/>
              </a:ext>
            </a:extLst>
          </p:cNvPr>
          <p:cNvPicPr>
            <a:picLocks noGrp="1" noChangeAspect="1"/>
          </p:cNvPicPr>
          <p:nvPr>
            <p:ph sz="half" idx="2"/>
          </p:nvPr>
        </p:nvPicPr>
        <p:blipFill>
          <a:blip r:embed="rId3"/>
          <a:stretch>
            <a:fillRect/>
          </a:stretch>
        </p:blipFill>
        <p:spPr>
          <a:xfrm>
            <a:off x="7044267" y="2512186"/>
            <a:ext cx="2950400" cy="3358389"/>
          </a:xfrm>
          <a:prstGeom prst="rect">
            <a:avLst/>
          </a:prstGeom>
        </p:spPr>
      </p:pic>
    </p:spTree>
    <p:extLst>
      <p:ext uri="{BB962C8B-B14F-4D97-AF65-F5344CB8AC3E}">
        <p14:creationId xmlns:p14="http://schemas.microsoft.com/office/powerpoint/2010/main" val="1323270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50A44-5DF8-D820-FF96-B50C67CEC34A}"/>
              </a:ext>
            </a:extLst>
          </p:cNvPr>
          <p:cNvSpPr>
            <a:spLocks noGrp="1"/>
          </p:cNvSpPr>
          <p:nvPr>
            <p:ph type="title"/>
          </p:nvPr>
        </p:nvSpPr>
        <p:spPr/>
        <p:txBody>
          <a:bodyPr/>
          <a:lstStyle/>
          <a:p>
            <a:r>
              <a:rPr lang="en-IN" dirty="0"/>
              <a:t>PSEUDOCODE</a:t>
            </a:r>
          </a:p>
        </p:txBody>
      </p:sp>
      <p:pic>
        <p:nvPicPr>
          <p:cNvPr id="7" name="Content Placeholder 6">
            <a:extLst>
              <a:ext uri="{FF2B5EF4-FFF2-40B4-BE49-F238E27FC236}">
                <a16:creationId xmlns:a16="http://schemas.microsoft.com/office/drawing/2014/main" id="{0F5240EE-F3AF-131D-2661-57D9CB574A58}"/>
              </a:ext>
            </a:extLst>
          </p:cNvPr>
          <p:cNvPicPr>
            <a:picLocks noGrp="1" noChangeAspect="1"/>
          </p:cNvPicPr>
          <p:nvPr>
            <p:ph sz="half" idx="1"/>
          </p:nvPr>
        </p:nvPicPr>
        <p:blipFill>
          <a:blip r:embed="rId2"/>
          <a:stretch>
            <a:fillRect/>
          </a:stretch>
        </p:blipFill>
        <p:spPr>
          <a:xfrm>
            <a:off x="1693793" y="2560638"/>
            <a:ext cx="3927613" cy="3309937"/>
          </a:xfrm>
          <a:prstGeom prst="rect">
            <a:avLst/>
          </a:prstGeom>
        </p:spPr>
      </p:pic>
      <p:pic>
        <p:nvPicPr>
          <p:cNvPr id="9" name="Content Placeholder 8">
            <a:extLst>
              <a:ext uri="{FF2B5EF4-FFF2-40B4-BE49-F238E27FC236}">
                <a16:creationId xmlns:a16="http://schemas.microsoft.com/office/drawing/2014/main" id="{E12C3F67-B8CD-E8C9-5D57-C539766CF357}"/>
              </a:ext>
            </a:extLst>
          </p:cNvPr>
          <p:cNvPicPr>
            <a:picLocks noGrp="1" noChangeAspect="1"/>
          </p:cNvPicPr>
          <p:nvPr>
            <p:ph sz="half" idx="2"/>
          </p:nvPr>
        </p:nvPicPr>
        <p:blipFill>
          <a:blip r:embed="rId3"/>
          <a:stretch>
            <a:fillRect/>
          </a:stretch>
        </p:blipFill>
        <p:spPr>
          <a:xfrm>
            <a:off x="6276810" y="2560638"/>
            <a:ext cx="4527879" cy="3309937"/>
          </a:xfrm>
          <a:prstGeom prst="rect">
            <a:avLst/>
          </a:prstGeom>
        </p:spPr>
      </p:pic>
    </p:spTree>
    <p:extLst>
      <p:ext uri="{BB962C8B-B14F-4D97-AF65-F5344CB8AC3E}">
        <p14:creationId xmlns:p14="http://schemas.microsoft.com/office/powerpoint/2010/main" val="670115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F0CCE-F773-A931-CA25-553EEF2A2E12}"/>
              </a:ext>
            </a:extLst>
          </p:cNvPr>
          <p:cNvSpPr>
            <a:spLocks noGrp="1"/>
          </p:cNvSpPr>
          <p:nvPr>
            <p:ph type="title"/>
          </p:nvPr>
        </p:nvSpPr>
        <p:spPr/>
        <p:txBody>
          <a:bodyPr/>
          <a:lstStyle/>
          <a:p>
            <a:r>
              <a:rPr lang="en-IN" dirty="0"/>
              <a:t>BENEFITS OF PROPOSED METHOD</a:t>
            </a:r>
          </a:p>
        </p:txBody>
      </p:sp>
      <p:sp>
        <p:nvSpPr>
          <p:cNvPr id="4" name="Rectangle 1">
            <a:extLst>
              <a:ext uri="{FF2B5EF4-FFF2-40B4-BE49-F238E27FC236}">
                <a16:creationId xmlns:a16="http://schemas.microsoft.com/office/drawing/2014/main" id="{AB379BC0-BD79-55BB-6F59-A965FF74AA03}"/>
              </a:ext>
            </a:extLst>
          </p:cNvPr>
          <p:cNvSpPr>
            <a:spLocks noGrp="1" noChangeArrowheads="1"/>
          </p:cNvSpPr>
          <p:nvPr>
            <p:ph idx="1"/>
          </p:nvPr>
        </p:nvSpPr>
        <p:spPr bwMode="auto">
          <a:xfrm>
            <a:off x="1295401" y="2646741"/>
            <a:ext cx="888897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 Compression Ratio</a:t>
            </a:r>
            <a:r>
              <a:rPr kumimoji="0" lang="en-US" altLang="en-US" sz="1800" b="0" i="0" u="none" strike="noStrike" cap="none" normalizeH="0" baseline="0" dirty="0">
                <a:ln>
                  <a:noFill/>
                </a:ln>
                <a:solidFill>
                  <a:schemeClr val="tx1"/>
                </a:solidFill>
                <a:effectLst/>
                <a:latin typeface="Arial" panose="020B0604020202020204" pitchFamily="34" charset="0"/>
              </a:rPr>
              <a:t>: Up to </a:t>
            </a:r>
            <a:r>
              <a:rPr kumimoji="0" lang="en-US" altLang="en-US" sz="1800" b="1" i="0" u="none" strike="noStrike" cap="none" normalizeH="0" baseline="0" dirty="0">
                <a:ln>
                  <a:noFill/>
                </a:ln>
                <a:solidFill>
                  <a:schemeClr val="tx1"/>
                </a:solidFill>
                <a:effectLst/>
                <a:latin typeface="Arial" panose="020B0604020202020204" pitchFamily="34" charset="0"/>
              </a:rPr>
              <a:t>70% reduction</a:t>
            </a:r>
            <a:r>
              <a:rPr kumimoji="0" lang="en-US" altLang="en-US" sz="1800" b="0" i="0" u="none" strike="noStrike" cap="none" normalizeH="0" baseline="0" dirty="0">
                <a:ln>
                  <a:noFill/>
                </a:ln>
                <a:solidFill>
                  <a:schemeClr val="tx1"/>
                </a:solidFill>
                <a:effectLst/>
                <a:latin typeface="Arial" panose="020B0604020202020204" pitchFamily="34" charset="0"/>
              </a:rPr>
              <a:t> in data size.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Faster Throughput</a:t>
            </a:r>
            <a:r>
              <a:rPr kumimoji="0" lang="en-US" altLang="en-US" sz="1800" b="0" i="0" u="none" strike="noStrike" cap="none" normalizeH="0" baseline="0" dirty="0">
                <a:ln>
                  <a:noFill/>
                </a:ln>
                <a:solidFill>
                  <a:schemeClr val="tx1"/>
                </a:solidFill>
                <a:effectLst/>
                <a:latin typeface="Arial" panose="020B0604020202020204" pitchFamily="34" charset="0"/>
              </a:rPr>
              <a:t>: ~85.43 B/</a:t>
            </a:r>
            <a:r>
              <a:rPr kumimoji="0" lang="en-US" altLang="en-US" sz="1800" b="0" i="0" u="none" strike="noStrike" cap="none" normalizeH="0" baseline="0" dirty="0" err="1">
                <a:ln>
                  <a:noFill/>
                </a:ln>
                <a:solidFill>
                  <a:schemeClr val="tx1"/>
                </a:solidFill>
                <a:effectLst/>
                <a:latin typeface="Arial" panose="020B0604020202020204" pitchFamily="34" charset="0"/>
              </a:rPr>
              <a:t>ms</a:t>
            </a:r>
            <a:r>
              <a:rPr kumimoji="0" lang="en-US" altLang="en-US" sz="1800" b="0" i="0" u="none" strike="noStrike" cap="none" normalizeH="0" baseline="0" dirty="0">
                <a:ln>
                  <a:noFill/>
                </a:ln>
                <a:solidFill>
                  <a:schemeClr val="tx1"/>
                </a:solidFill>
                <a:effectLst/>
                <a:latin typeface="Arial" panose="020B0604020202020204" pitchFamily="34" charset="0"/>
              </a:rPr>
              <a:t> for 100 sensor reads (better than uncompressed).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Low Latency</a:t>
            </a:r>
            <a:r>
              <a:rPr kumimoji="0" lang="en-US" altLang="en-US" sz="1800" b="0" i="0" u="none" strike="noStrike" cap="none" normalizeH="0" baseline="0" dirty="0">
                <a:ln>
                  <a:noFill/>
                </a:ln>
                <a:solidFill>
                  <a:schemeClr val="tx1"/>
                </a:solidFill>
                <a:effectLst/>
                <a:latin typeface="Arial" panose="020B0604020202020204" pitchFamily="34" charset="0"/>
              </a:rPr>
              <a:t>: Constant </a:t>
            </a:r>
            <a:r>
              <a:rPr kumimoji="0" lang="en-US" altLang="en-US" sz="1800" b="1" i="0" u="none" strike="noStrike" cap="none" normalizeH="0" baseline="0" dirty="0">
                <a:ln>
                  <a:noFill/>
                </a:ln>
                <a:solidFill>
                  <a:schemeClr val="tx1"/>
                </a:solidFill>
                <a:effectLst/>
                <a:latin typeface="Arial" panose="020B0604020202020204" pitchFamily="34" charset="0"/>
              </a:rPr>
              <a:t>6.25 </a:t>
            </a:r>
            <a:r>
              <a:rPr kumimoji="0" lang="en-US" altLang="en-US" sz="1800" b="1" i="0" u="none" strike="noStrike" cap="none" normalizeH="0" baseline="0" dirty="0" err="1">
                <a:ln>
                  <a:noFill/>
                </a:ln>
                <a:solidFill>
                  <a:schemeClr val="tx1"/>
                </a:solidFill>
                <a:effectLst/>
                <a:latin typeface="Arial" panose="020B0604020202020204" pitchFamily="34" charset="0"/>
              </a:rPr>
              <a:t>ms</a:t>
            </a:r>
            <a:r>
              <a:rPr kumimoji="0" lang="en-US" altLang="en-US" sz="1800" b="0" i="0" u="none" strike="noStrike" cap="none" normalizeH="0" baseline="0" dirty="0">
                <a:ln>
                  <a:noFill/>
                </a:ln>
                <a:solidFill>
                  <a:schemeClr val="tx1"/>
                </a:solidFill>
                <a:effectLst/>
                <a:latin typeface="Arial" panose="020B0604020202020204" pitchFamily="34" charset="0"/>
              </a:rPr>
              <a:t> fog processing delay.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Lightweight</a:t>
            </a:r>
            <a:r>
              <a:rPr kumimoji="0" lang="en-US" altLang="en-US" sz="1800" b="0" i="0" u="none" strike="noStrike" cap="none" normalizeH="0" baseline="0" dirty="0">
                <a:ln>
                  <a:noFill/>
                </a:ln>
                <a:solidFill>
                  <a:schemeClr val="tx1"/>
                </a:solidFill>
                <a:effectLst/>
                <a:latin typeface="Arial" panose="020B0604020202020204" pitchFamily="34" charset="0"/>
              </a:rPr>
              <a:t>: Uses less CPU/RAM than Huffman or LZW.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Scalable</a:t>
            </a:r>
            <a:r>
              <a:rPr kumimoji="0" lang="en-US" altLang="en-US" sz="1800" b="0" i="0" u="none" strike="noStrike" cap="none" normalizeH="0" baseline="0" dirty="0">
                <a:ln>
                  <a:noFill/>
                </a:ln>
                <a:solidFill>
                  <a:schemeClr val="tx1"/>
                </a:solidFill>
                <a:effectLst/>
                <a:latin typeface="Arial" panose="020B0604020202020204" pitchFamily="34" charset="0"/>
              </a:rPr>
              <a:t>: Works with multiple IoT sensors and datasets.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Performance</a:t>
            </a:r>
            <a:r>
              <a:rPr kumimoji="0" lang="en-US" altLang="en-US" sz="1800" b="0" i="0" u="none" strike="noStrike" cap="none" normalizeH="0" baseline="0" dirty="0">
                <a:ln>
                  <a:noFill/>
                </a:ln>
                <a:solidFill>
                  <a:schemeClr val="tx1"/>
                </a:solidFill>
                <a:effectLst/>
                <a:latin typeface="Arial" panose="020B0604020202020204" pitchFamily="34" charset="0"/>
              </a:rPr>
              <a:t>: Suitable for continuous patient monitoring.</a:t>
            </a:r>
          </a:p>
        </p:txBody>
      </p:sp>
    </p:spTree>
    <p:extLst>
      <p:ext uri="{BB962C8B-B14F-4D97-AF65-F5344CB8AC3E}">
        <p14:creationId xmlns:p14="http://schemas.microsoft.com/office/powerpoint/2010/main" val="3878939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E4D5C-A12A-AE34-2109-1BD2CC365630}"/>
              </a:ext>
            </a:extLst>
          </p:cNvPr>
          <p:cNvSpPr>
            <a:spLocks noGrp="1"/>
          </p:cNvSpPr>
          <p:nvPr>
            <p:ph type="title"/>
          </p:nvPr>
        </p:nvSpPr>
        <p:spPr/>
        <p:txBody>
          <a:bodyPr/>
          <a:lstStyle/>
          <a:p>
            <a:r>
              <a:rPr lang="en-IN" dirty="0"/>
              <a:t>EVALUATION METRICS</a:t>
            </a:r>
          </a:p>
        </p:txBody>
      </p:sp>
      <p:pic>
        <p:nvPicPr>
          <p:cNvPr id="5" name="Content Placeholder 4">
            <a:extLst>
              <a:ext uri="{FF2B5EF4-FFF2-40B4-BE49-F238E27FC236}">
                <a16:creationId xmlns:a16="http://schemas.microsoft.com/office/drawing/2014/main" id="{46E1B2BD-3BC7-3ADD-3F9B-A1D0BA898EDC}"/>
              </a:ext>
            </a:extLst>
          </p:cNvPr>
          <p:cNvPicPr>
            <a:picLocks noGrp="1" noChangeAspect="1"/>
          </p:cNvPicPr>
          <p:nvPr>
            <p:ph idx="1"/>
          </p:nvPr>
        </p:nvPicPr>
        <p:blipFill>
          <a:blip r:embed="rId2"/>
          <a:stretch>
            <a:fillRect/>
          </a:stretch>
        </p:blipFill>
        <p:spPr>
          <a:xfrm>
            <a:off x="2969342" y="2694039"/>
            <a:ext cx="6098715" cy="2901701"/>
          </a:xfrm>
          <a:prstGeom prst="rect">
            <a:avLst/>
          </a:prstGeom>
        </p:spPr>
      </p:pic>
    </p:spTree>
    <p:extLst>
      <p:ext uri="{BB962C8B-B14F-4D97-AF65-F5344CB8AC3E}">
        <p14:creationId xmlns:p14="http://schemas.microsoft.com/office/powerpoint/2010/main" val="2055040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154B0-B5EF-9138-E1BD-CACB55112D92}"/>
              </a:ext>
            </a:extLst>
          </p:cNvPr>
          <p:cNvSpPr>
            <a:spLocks noGrp="1"/>
          </p:cNvSpPr>
          <p:nvPr>
            <p:ph type="title"/>
          </p:nvPr>
        </p:nvSpPr>
        <p:spPr/>
        <p:txBody>
          <a:bodyPr/>
          <a:lstStyle/>
          <a:p>
            <a:r>
              <a:rPr lang="en-IN" dirty="0"/>
              <a:t>APPLICATIONS</a:t>
            </a:r>
          </a:p>
        </p:txBody>
      </p:sp>
      <p:sp>
        <p:nvSpPr>
          <p:cNvPr id="4" name="Rectangle 1">
            <a:extLst>
              <a:ext uri="{FF2B5EF4-FFF2-40B4-BE49-F238E27FC236}">
                <a16:creationId xmlns:a16="http://schemas.microsoft.com/office/drawing/2014/main" id="{35FBFFD2-6A0A-F91F-20C3-F2AD57FC19E8}"/>
              </a:ext>
            </a:extLst>
          </p:cNvPr>
          <p:cNvSpPr>
            <a:spLocks noGrp="1" noChangeArrowheads="1"/>
          </p:cNvSpPr>
          <p:nvPr>
            <p:ph idx="1"/>
          </p:nvPr>
        </p:nvSpPr>
        <p:spPr bwMode="auto">
          <a:xfrm>
            <a:off x="1295401" y="3200738"/>
            <a:ext cx="960923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Smart Healthcare</a:t>
            </a:r>
            <a:r>
              <a:rPr kumimoji="0" lang="en-US" altLang="en-US" sz="1800" b="0" i="0" u="none" strike="noStrike" cap="none" normalizeH="0" baseline="0" dirty="0">
                <a:ln>
                  <a:noFill/>
                </a:ln>
                <a:solidFill>
                  <a:schemeClr val="tx1"/>
                </a:solidFill>
                <a:effectLst/>
                <a:latin typeface="Arial" panose="020B0604020202020204" pitchFamily="34" charset="0"/>
              </a:rPr>
              <a:t> – Continuous monitoring of patients with low bandwidth.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Wearable Devices</a:t>
            </a:r>
            <a:r>
              <a:rPr kumimoji="0" lang="en-US" altLang="en-US" sz="1800" b="0" i="0" u="none" strike="noStrike" cap="none" normalizeH="0" baseline="0" dirty="0">
                <a:ln>
                  <a:noFill/>
                </a:ln>
                <a:solidFill>
                  <a:schemeClr val="tx1"/>
                </a:solidFill>
                <a:effectLst/>
                <a:latin typeface="Arial" panose="020B0604020202020204" pitchFamily="34" charset="0"/>
              </a:rPr>
              <a:t> – Reduce redundancy and energy consumption.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Smart Cities / Homes</a:t>
            </a:r>
            <a:r>
              <a:rPr kumimoji="0" lang="en-US" altLang="en-US" sz="1800" b="0" i="0" u="none" strike="noStrike" cap="none" normalizeH="0" baseline="0" dirty="0">
                <a:ln>
                  <a:noFill/>
                </a:ln>
                <a:solidFill>
                  <a:schemeClr val="tx1"/>
                </a:solidFill>
                <a:effectLst/>
                <a:latin typeface="Arial" panose="020B0604020202020204" pitchFamily="34" charset="0"/>
              </a:rPr>
              <a:t> – Compress large sensor data streams (temperature, humidity, etc.).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Emergency Response Systems</a:t>
            </a:r>
            <a:r>
              <a:rPr kumimoji="0" lang="en-US" altLang="en-US" sz="1800" b="0" i="0" u="none" strike="noStrike" cap="none" normalizeH="0" baseline="0" dirty="0">
                <a:ln>
                  <a:noFill/>
                </a:ln>
                <a:solidFill>
                  <a:schemeClr val="tx1"/>
                </a:solidFill>
                <a:effectLst/>
                <a:latin typeface="Arial" panose="020B0604020202020204" pitchFamily="34" charset="0"/>
              </a:rPr>
              <a:t> – Fast, real-time, low-latency transmission of vital signs.</a:t>
            </a:r>
          </a:p>
        </p:txBody>
      </p:sp>
    </p:spTree>
    <p:extLst>
      <p:ext uri="{BB962C8B-B14F-4D97-AF65-F5344CB8AC3E}">
        <p14:creationId xmlns:p14="http://schemas.microsoft.com/office/powerpoint/2010/main" val="1580127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B08DB-D28D-0B12-11A2-998BA3CE1C81}"/>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90DE611B-ED6C-7C74-5C7D-A7025AE40DC8}"/>
              </a:ext>
            </a:extLst>
          </p:cNvPr>
          <p:cNvSpPr>
            <a:spLocks noGrp="1"/>
          </p:cNvSpPr>
          <p:nvPr>
            <p:ph idx="1"/>
          </p:nvPr>
        </p:nvSpPr>
        <p:spPr/>
        <p:txBody>
          <a:bodyPr>
            <a:normAutofit lnSpcReduction="10000"/>
          </a:bodyPr>
          <a:lstStyle/>
          <a:p>
            <a:r>
              <a:rPr lang="en-US" dirty="0"/>
              <a:t>The proposed project implements a </a:t>
            </a:r>
            <a:r>
              <a:rPr lang="en-US" b="1" dirty="0" err="1"/>
              <a:t>Zstandard</a:t>
            </a:r>
            <a:r>
              <a:rPr lang="en-US" b="1" dirty="0"/>
              <a:t>-based IoT healthcare compression system</a:t>
            </a:r>
            <a:r>
              <a:rPr lang="en-US" dirty="0"/>
              <a:t>. By compressing data at the IoT layer before transmitting to fog computing, it reduces </a:t>
            </a:r>
            <a:r>
              <a:rPr lang="en-US" b="1" dirty="0"/>
              <a:t>bandwidth usage</a:t>
            </a:r>
            <a:r>
              <a:rPr lang="en-US" dirty="0"/>
              <a:t>, </a:t>
            </a:r>
            <a:r>
              <a:rPr lang="en-US" b="1" dirty="0"/>
              <a:t>network congestion</a:t>
            </a:r>
            <a:r>
              <a:rPr lang="en-US" dirty="0"/>
              <a:t>, and </a:t>
            </a:r>
            <a:r>
              <a:rPr lang="en-US" b="1" dirty="0"/>
              <a:t>processing delays</a:t>
            </a:r>
            <a:r>
              <a:rPr lang="en-US" dirty="0"/>
              <a:t>. Compared to traditional methods (Huffman, LZW), the </a:t>
            </a:r>
            <a:r>
              <a:rPr lang="en-US" dirty="0" err="1"/>
              <a:t>Zstandard</a:t>
            </a:r>
            <a:r>
              <a:rPr lang="en-US" dirty="0"/>
              <a:t> approach provides better </a:t>
            </a:r>
            <a:r>
              <a:rPr lang="en-US" b="1" dirty="0"/>
              <a:t>compression ratio, throughput, and latency</a:t>
            </a:r>
            <a:r>
              <a:rPr lang="en-US" dirty="0"/>
              <a:t> while being </a:t>
            </a:r>
            <a:r>
              <a:rPr lang="en-US" b="1" dirty="0"/>
              <a:t>lightweight enough for IoT devices</a:t>
            </a:r>
            <a:r>
              <a:rPr lang="en-US" dirty="0"/>
              <a:t>.</a:t>
            </a:r>
          </a:p>
          <a:p>
            <a:r>
              <a:rPr lang="en-US" dirty="0"/>
              <a:t>This makes the system practical for real-world </a:t>
            </a:r>
            <a:r>
              <a:rPr lang="en-US" b="1" dirty="0"/>
              <a:t>healthcare monitoring applications</a:t>
            </a:r>
            <a:r>
              <a:rPr lang="en-US" dirty="0"/>
              <a:t>.</a:t>
            </a:r>
          </a:p>
          <a:p>
            <a:endParaRPr lang="en-IN" dirty="0"/>
          </a:p>
        </p:txBody>
      </p:sp>
    </p:spTree>
    <p:extLst>
      <p:ext uri="{BB962C8B-B14F-4D97-AF65-F5344CB8AC3E}">
        <p14:creationId xmlns:p14="http://schemas.microsoft.com/office/powerpoint/2010/main" val="209597165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52</TotalTime>
  <Words>630</Words>
  <Application>Microsoft Office PowerPoint</Application>
  <PresentationFormat>Widescreen</PresentationFormat>
  <Paragraphs>76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Garamond</vt:lpstr>
      <vt:lpstr>Times New Roman</vt:lpstr>
      <vt:lpstr>Organic</vt:lpstr>
      <vt:lpstr>Smart Compression Framework for IoT Sensor Healthcare Data using Adaptive Modelling</vt:lpstr>
      <vt:lpstr>TEAM MEMBERS</vt:lpstr>
      <vt:lpstr>INTRODUCTION</vt:lpstr>
      <vt:lpstr>EXISTING METHODOLOGY</vt:lpstr>
      <vt:lpstr>EXISTING COMPRESSION TECHNIQUES</vt:lpstr>
      <vt:lpstr>WHY PROPOSED METHODOLOGY WORKS BETTER</vt:lpstr>
      <vt:lpstr>PROPOSED METHODOLOGY</vt:lpstr>
      <vt:lpstr>ALGORITHMS</vt:lpstr>
      <vt:lpstr>PSEUDOCODE</vt:lpstr>
      <vt:lpstr>PSEUDOCODE</vt:lpstr>
      <vt:lpstr>BENEFITS OF PROPOSED METHOD</vt:lpstr>
      <vt:lpstr>EVALUATION METRICS</vt:lpstr>
      <vt:lpstr>APPLICATIONS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RAVISHANKAR GANESAN</dc:creator>
  <cp:lastModifiedBy>Tharun R</cp:lastModifiedBy>
  <cp:revision>11</cp:revision>
  <dcterms:created xsi:type="dcterms:W3CDTF">2025-09-11T14:22:40Z</dcterms:created>
  <dcterms:modified xsi:type="dcterms:W3CDTF">2025-11-14T12:28:25Z</dcterms:modified>
</cp:coreProperties>
</file>